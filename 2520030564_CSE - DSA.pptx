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6" d="100"/>
          <a:sy n="86" d="100"/>
        </p:scale>
        <p:origin x="350" y="8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 DIGITAL MEDICAL RECORD STORAGE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Komma Kavyasri</a:t>
            </a:r>
          </a:p>
          <a:p>
            <a:pPr marL="0" indent="0" algn="ctr">
              <a:buNone/>
            </a:pPr>
            <a:r>
              <a:rPr lang="en-US" sz="9600" dirty="0"/>
              <a:t>Student ID: 2520030564</a:t>
            </a:r>
            <a:endParaRPr lang="en-US" sz="2400" dirty="0"/>
          </a:p>
          <a:p>
            <a:pPr marL="0" indent="0" algn="ctr">
              <a:buNone/>
            </a:pPr>
            <a:r>
              <a:rPr lang="en-US" sz="11200" dirty="0"/>
              <a:t>Cluster: 4</a:t>
            </a:r>
          </a:p>
          <a:p>
            <a:pPr marL="0" indent="0" algn="ctr">
              <a:buNone/>
            </a:pPr>
            <a:r>
              <a:rPr lang="en-US" sz="11200" dirty="0"/>
              <a:t>Section: 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511634" y="513668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xxxxxxxx</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Rectangle 2">
            <a:extLst>
              <a:ext uri="{FF2B5EF4-FFF2-40B4-BE49-F238E27FC236}">
                <a16:creationId xmlns:a16="http://schemas.microsoft.com/office/drawing/2014/main" id="{F37F5132-1EAC-9D4F-73E1-4195BF54F9EE}"/>
              </a:ext>
            </a:extLst>
          </p:cNvPr>
          <p:cNvSpPr>
            <a:spLocks noChangeArrowheads="1"/>
          </p:cNvSpPr>
          <p:nvPr/>
        </p:nvSpPr>
        <p:spPr bwMode="auto">
          <a:xfrm>
            <a:off x="204187" y="1296395"/>
            <a:ext cx="113545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Digital Medical Record Storage System (DMRS) is a web-based application designed to manage and store patient medical records in a digital format.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healthcare systems often rely on paper-based records, which are difficult to maintain, access, and organize. This system provides a simple platform where doctors can add patient details, upload medical documents such as lab reports, prescriptions, and diagnostic files, and manage records efficiently.</a:t>
            </a:r>
            <a:endParaRPr lang="en-US" altLang="en-US" sz="24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also allows patients to access their medical records easily, improving communication between doctors and patients.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includes features such as patient management, file uploading and downloading, a dashboard for viewing system statistics, and activity logs to track system actions.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using HTML, CSS, and JavaScript, the system provides a user-friendly interface for storing and accessing healthcare data digitally. </a:t>
            </a:r>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2" name="Content Placeholder 1">
            <a:extLst>
              <a:ext uri="{FF2B5EF4-FFF2-40B4-BE49-F238E27FC236}">
                <a16:creationId xmlns:a16="http://schemas.microsoft.com/office/drawing/2014/main" id="{D350B11B-9135-0661-47D8-00ED892A21CC}"/>
              </a:ext>
            </a:extLst>
          </p:cNvPr>
          <p:cNvSpPr>
            <a:spLocks noGrp="1" noChangeArrowheads="1"/>
          </p:cNvSpPr>
          <p:nvPr>
            <p:ph idx="1"/>
          </p:nvPr>
        </p:nvSpPr>
        <p:spPr bwMode="auto">
          <a:xfrm>
            <a:off x="838200" y="1855049"/>
            <a:ext cx="1051559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 medical records are mainly stored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paper-based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Hospitals maintain records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physical folders and documents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Searching for patient information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takes a lot of time</a:t>
            </a:r>
            <a:r>
              <a:rPr lang="en-US" altLang="en-US" sz="2400" dirty="0">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risk of file loss, damage, or misplacement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Records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easily accessible by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Sharing medical reports between doctors and hospitals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 and slow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large volumes of patient data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significant physical  storage space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record management can lead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errors and data duplication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CFEC2B69-1572-6D2A-3B45-B15A2E99665B}"/>
              </a:ext>
            </a:extLst>
          </p:cNvPr>
          <p:cNvSpPr>
            <a:spLocks noGrp="1" noChangeArrowheads="1"/>
          </p:cNvSpPr>
          <p:nvPr>
            <p:ph idx="1"/>
          </p:nvPr>
        </p:nvSpPr>
        <p:spPr bwMode="auto">
          <a:xfrm>
            <a:off x="1297563" y="1270363"/>
            <a:ext cx="993929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Medical Record Storage System (DMRS)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store patient records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doctors to add, manage, and delete patient details easily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uploading and downloading of medical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lab reports, prescriptions,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login access for doctors and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to display important statistics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total patients and total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logs to track system operations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uploads and patient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patients to access their medical records anytime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paperwork and improve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 accessibility, and record management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8735CAB0-1875-E13B-1E64-AD4FDC6F93DA}"/>
              </a:ext>
            </a:extLst>
          </p:cNvPr>
          <p:cNvPicPr>
            <a:picLocks noGrp="1" noChangeAspect="1"/>
          </p:cNvPicPr>
          <p:nvPr>
            <p:ph idx="1"/>
          </p:nvPr>
        </p:nvPicPr>
        <p:blipFill>
          <a:blip r:embed="rId2"/>
          <a:stretch>
            <a:fillRect/>
          </a:stretch>
        </p:blipFill>
        <p:spPr>
          <a:xfrm>
            <a:off x="4396978" y="1622832"/>
            <a:ext cx="3246695" cy="4870043"/>
          </a:xfr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2" name="Content Placeholder 1">
            <a:extLst>
              <a:ext uri="{FF2B5EF4-FFF2-40B4-BE49-F238E27FC236}">
                <a16:creationId xmlns:a16="http://schemas.microsoft.com/office/drawing/2014/main" id="{A18C34AC-590D-0FB2-950F-273BBC43C938}"/>
              </a:ext>
            </a:extLst>
          </p:cNvPr>
          <p:cNvSpPr>
            <a:spLocks noGrp="1" noChangeArrowheads="1"/>
          </p:cNvSpPr>
          <p:nvPr>
            <p:ph idx="1"/>
          </p:nvPr>
        </p:nvSpPr>
        <p:spPr bwMode="auto">
          <a:xfrm>
            <a:off x="272249" y="1337220"/>
            <a:ext cx="1164750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login and logout for doctors and patients with username and password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 Management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doctors to add, view, and delete patient details such as name, age, and medical notes.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Medical File Management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doctors and patients to upload, view, and download medical files like lab reports, prescriptions,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important information such as total patients, total uploaded files, and recent uploads.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all system activities such as patient creation, file uploads, and record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Storage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patient records, uploaded files, and logs using browser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Storage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8F9F1719-F41D-B097-BF42-AD41676AF03A}"/>
              </a:ext>
            </a:extLst>
          </p:cNvPr>
          <p:cNvSpPr>
            <a:spLocks noGrp="1" noChangeArrowheads="1"/>
          </p:cNvSpPr>
          <p:nvPr>
            <p:ph idx="1"/>
          </p:nvPr>
        </p:nvSpPr>
        <p:spPr bwMode="auto">
          <a:xfrm>
            <a:off x="230819" y="2136683"/>
            <a:ext cx="119611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Medical Record Storage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storing patient medical data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access for doctors and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a login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uploading and management of medical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prescriptions , lab</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doctors to manage patient information efficiently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maintain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logs for tracking system operations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paper-based record keeping in hospitals and clinics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accessibility, organization, and security of medical records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46D1AB01-D059-FC05-DDE0-A88B6A09A4A2}"/>
              </a:ext>
            </a:extLst>
          </p:cNvPr>
          <p:cNvSpPr>
            <a:spLocks noGrp="1"/>
          </p:cNvSpPr>
          <p:nvPr>
            <p:ph idx="1"/>
          </p:nvPr>
        </p:nvSpPr>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CO1:</a:t>
            </a:r>
            <a:r>
              <a:rPr lang="en-US" dirty="0">
                <a:latin typeface="Times New Roman" panose="02020603050405020304" pitchFamily="18" charset="0"/>
                <a:cs typeface="Times New Roman" panose="02020603050405020304" pitchFamily="18" charset="0"/>
              </a:rPr>
              <a:t> HTML structure and basic CSS styling are used to design the layout and interface of the DMRS web pages such as login, dashboard, and patient management.</a:t>
            </a:r>
          </a:p>
          <a:p>
            <a:r>
              <a:rPr lang="en-US" b="1" dirty="0">
                <a:latin typeface="Times New Roman" panose="02020603050405020304" pitchFamily="18" charset="0"/>
                <a:cs typeface="Times New Roman" panose="02020603050405020304" pitchFamily="18" charset="0"/>
              </a:rPr>
              <a:t>CO2:</a:t>
            </a:r>
            <a:r>
              <a:rPr lang="en-US" dirty="0">
                <a:latin typeface="Times New Roman" panose="02020603050405020304" pitchFamily="18" charset="0"/>
                <a:cs typeface="Times New Roman" panose="02020603050405020304" pitchFamily="18" charset="0"/>
              </a:rPr>
              <a:t> HTML forms, input elements, tables, and CSS layouts are used to collect patient information, upload medical files, and organize webpage content.</a:t>
            </a:r>
          </a:p>
          <a:p>
            <a:r>
              <a:rPr lang="en-US" b="1" dirty="0">
                <a:latin typeface="Times New Roman" panose="02020603050405020304" pitchFamily="18" charset="0"/>
                <a:cs typeface="Times New Roman" panose="02020603050405020304" pitchFamily="18" charset="0"/>
              </a:rPr>
              <a:t>CO3:</a:t>
            </a:r>
            <a:r>
              <a:rPr lang="en-US" dirty="0">
                <a:latin typeface="Times New Roman" panose="02020603050405020304" pitchFamily="18" charset="0"/>
                <a:cs typeface="Times New Roman" panose="02020603050405020304" pitchFamily="18" charset="0"/>
              </a:rPr>
              <a:t> JavaScript fundamentals like variables, functions, conditions, loops, arrays, and objects are used to manage patient data and system functionality.</a:t>
            </a:r>
          </a:p>
          <a:p>
            <a:r>
              <a:rPr lang="en-US" b="1" dirty="0">
                <a:latin typeface="Times New Roman" panose="02020603050405020304" pitchFamily="18" charset="0"/>
                <a:cs typeface="Times New Roman" panose="02020603050405020304" pitchFamily="18" charset="0"/>
              </a:rPr>
              <a:t>CO4:</a:t>
            </a:r>
            <a:r>
              <a:rPr lang="en-US" dirty="0">
                <a:latin typeface="Times New Roman" panose="02020603050405020304" pitchFamily="18" charset="0"/>
                <a:cs typeface="Times New Roman" panose="02020603050405020304" pitchFamily="18" charset="0"/>
              </a:rPr>
              <a:t> JavaScript DOM manipulation, event handling, and browser local storage are used to implement interactive features like login authentication, dynamic updates, and activity logs.</a:t>
            </a:r>
          </a:p>
          <a:p>
            <a:r>
              <a:rPr lang="en-US" b="1" dirty="0">
                <a:latin typeface="Times New Roman" panose="02020603050405020304" pitchFamily="18" charset="0"/>
                <a:cs typeface="Times New Roman" panose="02020603050405020304" pitchFamily="18" charset="0"/>
              </a:rPr>
              <a:t>CO5:</a:t>
            </a:r>
            <a:r>
              <a:rPr lang="en-US" dirty="0">
                <a:latin typeface="Times New Roman" panose="02020603050405020304" pitchFamily="18" charset="0"/>
                <a:cs typeface="Times New Roman" panose="02020603050405020304" pitchFamily="18" charset="0"/>
              </a:rPr>
              <a:t> Advanced JavaScript concepts such as form validation and dynamic user input handling are used to process user actions and manage medical records efficiently.</a:t>
            </a:r>
          </a:p>
        </p:txBody>
      </p:sp>
    </p:spTree>
    <p:extLst>
      <p:ext uri="{BB962C8B-B14F-4D97-AF65-F5344CB8AC3E}">
        <p14:creationId xmlns:p14="http://schemas.microsoft.com/office/powerpoint/2010/main" val="190694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92500" lnSpcReduction="20000"/>
          </a:bodyPr>
          <a:lstStyle/>
          <a:p>
            <a:r>
              <a:rPr lang="en-US" b="1" dirty="0"/>
              <a:t>CO1:</a:t>
            </a:r>
            <a:r>
              <a:rPr lang="en-US" dirty="0"/>
              <a:t> Searching and data management in the system (such as finding users during login and retrieving patient records) demonstrate algorithmic thinking and efficiency considerations similar to classical searching techniques.</a:t>
            </a:r>
          </a:p>
          <a:p>
            <a:r>
              <a:rPr lang="en-US" b="1" dirty="0"/>
              <a:t>CO2:</a:t>
            </a:r>
            <a:r>
              <a:rPr lang="en-US" dirty="0"/>
              <a:t> Patient records and medical files are organized using structured data collections (arrays/objects), representing the concept of Abstract Data Types for storing, inserting, deleting, and traversing data.</a:t>
            </a:r>
          </a:p>
          <a:p>
            <a:r>
              <a:rPr lang="en-US" b="1" dirty="0"/>
              <a:t>CO3:</a:t>
            </a:r>
            <a:r>
              <a:rPr lang="en-US" dirty="0"/>
              <a:t> System workflows such as managing uploaded files, activity logs, and sequential record handling reflect queue-like or stack-like processing concepts used to manage ordered data operations.</a:t>
            </a:r>
          </a:p>
          <a:p>
            <a:r>
              <a:rPr lang="en-US" b="1" dirty="0"/>
              <a:t>CO4:</a:t>
            </a:r>
            <a:r>
              <a:rPr lang="en-US" dirty="0"/>
              <a:t> Fast access and updates of user, patient, and file data using JavaScript objects and browser storage demonstrate hash-like data access and efficient data retrieval concepts similar to hash tables and map structures.</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4436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a:t>
            </a:r>
            <a:r>
              <a:rPr lang="en-US"/>
              <a:t>for DSA </a:t>
            </a:r>
            <a:endParaRPr lang="en-US" dirty="0"/>
          </a:p>
        </p:txBody>
      </p:sp>
      <p:sp>
        <p:nvSpPr>
          <p:cNvPr id="3" name="Content Placeholder 2">
            <a:extLst>
              <a:ext uri="{FF2B5EF4-FFF2-40B4-BE49-F238E27FC236}">
                <a16:creationId xmlns:a16="http://schemas.microsoft.com/office/drawing/2014/main" id="{D408550D-1730-34EA-8ABA-9BB036DE20DE}"/>
              </a:ext>
            </a:extLst>
          </p:cNvPr>
          <p:cNvSpPr>
            <a:spLocks noGrp="1"/>
          </p:cNvSpPr>
          <p:nvPr>
            <p:ph idx="1"/>
          </p:nvPr>
        </p:nvSpPr>
        <p:spPr>
          <a:xfrm>
            <a:off x="838200" y="1362974"/>
            <a:ext cx="10515600" cy="4813989"/>
          </a:xfrm>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IN" dirty="0"/>
          </a:p>
          <a:p>
            <a:pPr marL="0" marR="0" lvl="0" indent="0" algn="just">
              <a:spcBef>
                <a:spcPts val="0"/>
              </a:spcBef>
              <a:spcAft>
                <a:spcPts val="0"/>
              </a:spcAft>
              <a:buNone/>
              <a:tabLst>
                <a:tab pos="228600" algn="l"/>
                <a:tab pos="228600" algn="l"/>
                <a:tab pos="282575" algn="l"/>
                <a:tab pos="339725" algn="l"/>
              </a:tabLst>
            </a:pPr>
            <a:endParaRPr lang="en-IN" dirty="0"/>
          </a:p>
          <a:p>
            <a:pPr marR="0" lvl="0" algn="just">
              <a:spcBef>
                <a:spcPts val="0"/>
              </a:spcBef>
              <a:spcAft>
                <a:spcPts val="0"/>
              </a:spcAft>
              <a:tabLst>
                <a:tab pos="228600" algn="l"/>
                <a:tab pos="228600" algn="l"/>
                <a:tab pos="282575" algn="l"/>
                <a:tab pos="339725" algn="l"/>
              </a:tabLst>
            </a:pPr>
            <a:endParaRPr lang="en-IN" dirty="0"/>
          </a:p>
          <a:p>
            <a:pPr marR="0" lvl="0" algn="just">
              <a:spcBef>
                <a:spcPts val="0"/>
              </a:spcBef>
              <a:spcAft>
                <a:spcPts val="0"/>
              </a:spcAft>
              <a:tabLst>
                <a:tab pos="228600" algn="l"/>
                <a:tab pos="228600" algn="l"/>
                <a:tab pos="282575" algn="l"/>
                <a:tab pos="339725" algn="l"/>
              </a:tabLst>
            </a:pPr>
            <a:endParaRPr lang="en-IN" dirty="0"/>
          </a:p>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8" name="Picture 7">
            <a:extLst>
              <a:ext uri="{FF2B5EF4-FFF2-40B4-BE49-F238E27FC236}">
                <a16:creationId xmlns:a16="http://schemas.microsoft.com/office/drawing/2014/main" id="{61FF3FE0-0FB7-BC3A-16FB-075CC21CBDF3}"/>
              </a:ext>
            </a:extLst>
          </p:cNvPr>
          <p:cNvPicPr>
            <a:picLocks noChangeAspect="1"/>
          </p:cNvPicPr>
          <p:nvPr/>
        </p:nvPicPr>
        <p:blipFill>
          <a:blip r:embed="rId2"/>
          <a:stretch>
            <a:fillRect/>
          </a:stretch>
        </p:blipFill>
        <p:spPr>
          <a:xfrm>
            <a:off x="415257" y="1463714"/>
            <a:ext cx="2256922" cy="2682408"/>
          </a:xfrm>
          <a:prstGeom prst="rect">
            <a:avLst/>
          </a:prstGeom>
        </p:spPr>
      </p:pic>
      <p:pic>
        <p:nvPicPr>
          <p:cNvPr id="11" name="Picture 10">
            <a:extLst>
              <a:ext uri="{FF2B5EF4-FFF2-40B4-BE49-F238E27FC236}">
                <a16:creationId xmlns:a16="http://schemas.microsoft.com/office/drawing/2014/main" id="{D2440157-4D3C-847F-BF9E-F8ADA2CDBD67}"/>
              </a:ext>
            </a:extLst>
          </p:cNvPr>
          <p:cNvPicPr>
            <a:picLocks noChangeAspect="1"/>
          </p:cNvPicPr>
          <p:nvPr/>
        </p:nvPicPr>
        <p:blipFill>
          <a:blip r:embed="rId3"/>
          <a:stretch>
            <a:fillRect/>
          </a:stretch>
        </p:blipFill>
        <p:spPr>
          <a:xfrm>
            <a:off x="3095123" y="1463713"/>
            <a:ext cx="2191860" cy="2682409"/>
          </a:xfrm>
          <a:prstGeom prst="rect">
            <a:avLst/>
          </a:prstGeom>
        </p:spPr>
      </p:pic>
      <p:pic>
        <p:nvPicPr>
          <p:cNvPr id="14" name="Picture 13">
            <a:extLst>
              <a:ext uri="{FF2B5EF4-FFF2-40B4-BE49-F238E27FC236}">
                <a16:creationId xmlns:a16="http://schemas.microsoft.com/office/drawing/2014/main" id="{5D9E995C-BE20-FB28-73C6-B4816455874D}"/>
              </a:ext>
            </a:extLst>
          </p:cNvPr>
          <p:cNvPicPr>
            <a:picLocks noChangeAspect="1"/>
          </p:cNvPicPr>
          <p:nvPr/>
        </p:nvPicPr>
        <p:blipFill>
          <a:blip r:embed="rId4"/>
          <a:stretch>
            <a:fillRect/>
          </a:stretch>
        </p:blipFill>
        <p:spPr>
          <a:xfrm>
            <a:off x="6041071" y="470501"/>
            <a:ext cx="4003572" cy="2682409"/>
          </a:xfrm>
          <a:prstGeom prst="rect">
            <a:avLst/>
          </a:prstGeom>
        </p:spPr>
      </p:pic>
      <p:pic>
        <p:nvPicPr>
          <p:cNvPr id="18" name="Picture 17">
            <a:extLst>
              <a:ext uri="{FF2B5EF4-FFF2-40B4-BE49-F238E27FC236}">
                <a16:creationId xmlns:a16="http://schemas.microsoft.com/office/drawing/2014/main" id="{C4E7A0F1-C56B-23F4-7929-858EDD972738}"/>
              </a:ext>
            </a:extLst>
          </p:cNvPr>
          <p:cNvPicPr>
            <a:picLocks noChangeAspect="1"/>
          </p:cNvPicPr>
          <p:nvPr/>
        </p:nvPicPr>
        <p:blipFill>
          <a:blip r:embed="rId5"/>
          <a:stretch>
            <a:fillRect/>
          </a:stretch>
        </p:blipFill>
        <p:spPr>
          <a:xfrm>
            <a:off x="6041071" y="3429000"/>
            <a:ext cx="2787545" cy="2624185"/>
          </a:xfrm>
          <a:prstGeom prst="rect">
            <a:avLst/>
          </a:prstGeom>
        </p:spPr>
      </p:pic>
      <p:pic>
        <p:nvPicPr>
          <p:cNvPr id="22" name="Picture 21">
            <a:extLst>
              <a:ext uri="{FF2B5EF4-FFF2-40B4-BE49-F238E27FC236}">
                <a16:creationId xmlns:a16="http://schemas.microsoft.com/office/drawing/2014/main" id="{F165F57F-E60C-4EAF-DE96-8B58334A6971}"/>
              </a:ext>
            </a:extLst>
          </p:cNvPr>
          <p:cNvPicPr>
            <a:picLocks noChangeAspect="1"/>
          </p:cNvPicPr>
          <p:nvPr/>
        </p:nvPicPr>
        <p:blipFill>
          <a:blip r:embed="rId6"/>
          <a:stretch>
            <a:fillRect/>
          </a:stretch>
        </p:blipFill>
        <p:spPr>
          <a:xfrm>
            <a:off x="9074990" y="3423681"/>
            <a:ext cx="2829727" cy="2634822"/>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pPr marL="0" indent="0" algn="just">
              <a:buNone/>
            </a:pPr>
            <a:r>
              <a:rPr lang="en-US" dirty="0"/>
              <a:t>The Digital Medical Record Storage System provides a simple and efficient way to store and manage patient medical records digitally. The system allows doctors to add patient details, upload medical files, and maintain organized records, while patients can easily access their medical information. By replacing traditional paper-based records with a digital platform, the system improves accessibility, reduces the risk of data loss, and enhances the efficiency of healthcare record management. Overall, the project demonstrates how web technologies can be used to build practical solutions for real-world healthcare data management.</a:t>
            </a:r>
          </a:p>
          <a:p>
            <a:pPr marL="0" indent="0" algn="just">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838200" y="365125"/>
            <a:ext cx="10515600" cy="1204883"/>
          </a:xfrm>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18" name="AutoShape 8">
            <a:extLst>
              <a:ext uri="{FF2B5EF4-FFF2-40B4-BE49-F238E27FC236}">
                <a16:creationId xmlns:a16="http://schemas.microsoft.com/office/drawing/2014/main" id="{BA9F7AF1-1E11-2556-3B00-0347D87A743E}"/>
              </a:ext>
            </a:extLst>
          </p:cNvPr>
          <p:cNvSpPr>
            <a:spLocks noChangeAspect="1" noChangeArrowheads="1"/>
          </p:cNvSpPr>
          <p:nvPr/>
        </p:nvSpPr>
        <p:spPr bwMode="auto">
          <a:xfrm>
            <a:off x="5943600" y="3276600"/>
            <a:ext cx="1915064"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Content Placeholder 7">
            <a:extLst>
              <a:ext uri="{FF2B5EF4-FFF2-40B4-BE49-F238E27FC236}">
                <a16:creationId xmlns:a16="http://schemas.microsoft.com/office/drawing/2014/main" id="{8F384987-2549-C5E1-6F48-92C61C050224}"/>
              </a:ext>
            </a:extLst>
          </p:cNvPr>
          <p:cNvPicPr>
            <a:picLocks noGrp="1" noChangeAspect="1"/>
          </p:cNvPicPr>
          <p:nvPr>
            <p:ph idx="1"/>
          </p:nvPr>
        </p:nvPicPr>
        <p:blipFill>
          <a:blip r:embed="rId2"/>
          <a:stretch>
            <a:fillRect/>
          </a:stretch>
        </p:blipFill>
        <p:spPr>
          <a:xfrm>
            <a:off x="1200745" y="1719093"/>
            <a:ext cx="3263503" cy="4351338"/>
          </a:xfrm>
        </p:spPr>
      </p:pic>
      <p:pic>
        <p:nvPicPr>
          <p:cNvPr id="10" name="Picture 9">
            <a:extLst>
              <a:ext uri="{FF2B5EF4-FFF2-40B4-BE49-F238E27FC236}">
                <a16:creationId xmlns:a16="http://schemas.microsoft.com/office/drawing/2014/main" id="{97459FD1-DAFF-5C89-637D-C6D5CB6EA96A}"/>
              </a:ext>
            </a:extLst>
          </p:cNvPr>
          <p:cNvPicPr>
            <a:picLocks noChangeAspect="1"/>
          </p:cNvPicPr>
          <p:nvPr/>
        </p:nvPicPr>
        <p:blipFill>
          <a:blip r:embed="rId3"/>
          <a:stretch>
            <a:fillRect/>
          </a:stretch>
        </p:blipFill>
        <p:spPr>
          <a:xfrm>
            <a:off x="5528867" y="1787510"/>
            <a:ext cx="3263504"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3972</TotalTime>
  <Words>1117</Words>
  <Application>Microsoft Office PowerPoint</Application>
  <PresentationFormat>Widescreen</PresentationFormat>
  <Paragraphs>129</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Times New Roman</vt:lpstr>
      <vt:lpstr>Office Theme</vt:lpstr>
      <vt:lpstr>Custom Design</vt:lpstr>
      <vt:lpstr>Title : DIGITAL MEDICAL RECORD STORAGE SYSTEM</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DSA </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Shivaji Yadav</cp:lastModifiedBy>
  <cp:revision>58</cp:revision>
  <dcterms:created xsi:type="dcterms:W3CDTF">2022-05-20T10:20:31Z</dcterms:created>
  <dcterms:modified xsi:type="dcterms:W3CDTF">2026-03-12T06:03:43Z</dcterms:modified>
</cp:coreProperties>
</file>